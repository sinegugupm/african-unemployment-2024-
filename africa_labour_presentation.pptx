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g"/>
  <Default Extension="m4v" ContentType="video/mp4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1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18" Type="http://schemas.openxmlformats.org/officeDocument/2006/relationships/customXml" Target="../customXml/item3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D1B2A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D1B2A"/>
                </a:solidFill>
                <a:latin typeface="Arial"/>
              </a:rPr>
              <a:t>Unemployment Rate by Region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Rate %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9731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West Africa</c:v>
                  </c:pt>
                  <c:pt idx="1">
                    <c:v>East Africa</c:v>
                  </c:pt>
                  <c:pt idx="2">
                    <c:v>Central Africa</c:v>
                  </c:pt>
                  <c:pt idx="3">
                    <c:v>North Africa</c:v>
                  </c:pt>
                  <c:pt idx="4">
                    <c:v>Southern Africa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5.21</c:v>
                </c:pt>
                <c:pt idx="1">
                  <c:v>9.19</c:v>
                </c:pt>
                <c:pt idx="2">
                  <c:v>12.56</c:v>
                </c:pt>
                <c:pt idx="3">
                  <c:v>16.05</c:v>
                </c:pt>
                <c:pt idx="4">
                  <c:v>17.89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D1B2A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D1B2A"/>
                </a:solidFill>
                <a:latin typeface="Arial"/>
              </a:rPr>
              <a:t>Gender Unemployment Gap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Rate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C4899"/>
              </a:solidFill>
              <a:effectLst/>
            </c:spPr>
          </c:dPt>
          <c:dPt>
            <c:idx val="1"/>
            <c:bubble3D val="0"/>
            <c:spPr>
              <a:solidFill>
                <a:srgbClr val="6366F1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Female (11.54%)</c:v>
                </c:pt>
                <c:pt idx="1">
                  <c:v>Male (9.94%)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11.54</c:v>
                </c:pt>
                <c:pt idx="1">
                  <c:v>9.94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7A8099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D1B2A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D1B2A"/>
                </a:solidFill>
                <a:latin typeface="Arial"/>
              </a:rPr>
              <a:t>Top 10 Countries by Unemployment Rate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Rate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9731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9731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97316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6366F1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6366F1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6366F1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Swaziland</c:v>
                  </c:pt>
                  <c:pt idx="1">
                    <c:v>Djibouti</c:v>
                  </c:pt>
                  <c:pt idx="2">
                    <c:v>South Africa</c:v>
                  </c:pt>
                  <c:pt idx="3">
                    <c:v>Rep. of Congo</c:v>
                  </c:pt>
                  <c:pt idx="4">
                    <c:v>Gabon</c:v>
                  </c:pt>
                  <c:pt idx="5">
                    <c:v>Namibia</c:v>
                  </c:pt>
                  <c:pt idx="6">
                    <c:v>Botswana</c:v>
                  </c:pt>
                  <c:pt idx="7">
                    <c:v>Tunisia</c:v>
                  </c:pt>
                  <c:pt idx="8">
                    <c:v>Libya</c:v>
                  </c:pt>
                  <c:pt idx="9">
                    <c:v>Lesotho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32.84</c:v>
                </c:pt>
                <c:pt idx="1">
                  <c:v>30.74</c:v>
                </c:pt>
                <c:pt idx="2">
                  <c:v>30.71</c:v>
                </c:pt>
                <c:pt idx="3">
                  <c:v>28.33</c:v>
                </c:pt>
                <c:pt idx="4">
                  <c:v>28.31</c:v>
                </c:pt>
                <c:pt idx="5">
                  <c:v>24.65</c:v>
                </c:pt>
                <c:pt idx="6">
                  <c:v>23.15</c:v>
                </c:pt>
                <c:pt idx="7">
                  <c:v>21.94</c:v>
                </c:pt>
                <c:pt idx="8">
                  <c:v>21.51</c:v>
                </c:pt>
                <c:pt idx="9">
                  <c:v>21.42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D1B2A"/>
                </a:solidFill>
                <a:latin typeface="Arial"/>
              </a:defRPr>
            </a:pPr>
            <a:r>
              <a:rPr sz="1000" b="0" i="0" u="none" strike="noStrike">
                <a:solidFill>
                  <a:srgbClr val="0D1B2A"/>
                </a:solidFill>
                <a:latin typeface="Arial"/>
              </a:rPr>
              <a:t>Rate by Age Group - Youth Peak at 20%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Rate %</c:v>
                </c:pt>
              </c:strCache>
            </c:strRef>
          </c:tx>
          <c:spPr>
            <a:solidFill>
              <a:srgbClr val="F97316"/>
            </a:solidFill>
            <a:ln w="38100" cap="flat">
              <a:solidFill>
                <a:srgbClr val="F9731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D1B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97316"/>
              </a:solidFill>
              <a:ln w="9525" cap="flat">
                <a:solidFill>
                  <a:srgbClr val="F9731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15-24</c:v>
                  </c:pt>
                  <c:pt idx="1">
                    <c:v>25-34</c:v>
                  </c:pt>
                  <c:pt idx="2">
                    <c:v>35-44</c:v>
                  </c:pt>
                  <c:pt idx="3">
                    <c:v>45-54</c:v>
                  </c:pt>
                  <c:pt idx="4">
                    <c:v>55-64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20</c:v>
                </c:pt>
                <c:pt idx="1">
                  <c:v>12.12</c:v>
                </c:pt>
                <c:pt idx="2">
                  <c:v>8.13</c:v>
                </c:pt>
                <c:pt idx="3">
                  <c:v>6.04</c:v>
                </c:pt>
                <c:pt idx="4">
                  <c:v>7.23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D1B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D1B2A"/>
                </a:solidFill>
                <a:latin typeface="Arial"/>
              </a:defRPr>
            </a:pPr>
            <a:r>
              <a:rPr sz="1000" b="0" i="0" u="none" strike="noStrike">
                <a:solidFill>
                  <a:srgbClr val="0D1B2A"/>
                </a:solidFill>
                <a:latin typeface="Arial"/>
              </a:rPr>
              <a:t>Rate by Education - The Tertiary Paradox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Rate %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D1B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No Formal</c:v>
                  </c:pt>
                  <c:pt idx="1">
                    <c:v>Primary</c:v>
                  </c:pt>
                  <c:pt idx="2">
                    <c:v>Secondary</c:v>
                  </c:pt>
                  <c:pt idx="3">
                    <c:v>Tertiary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6.92</c:v>
                </c:pt>
                <c:pt idx="1">
                  <c:v>8.84</c:v>
                </c:pt>
                <c:pt idx="2">
                  <c:v>11</c:v>
                </c:pt>
                <c:pt idx="3">
                  <c:v>15.34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D1B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D1B2A"/>
                </a:solidFill>
                <a:latin typeface="Arial"/>
              </a:defRPr>
            </a:pPr>
            <a:r>
              <a:rPr sz="1000" b="0" i="0" u="none" strike="noStrike">
                <a:solidFill>
                  <a:srgbClr val="0D1B2A"/>
                </a:solidFill>
                <a:latin typeface="Arial"/>
              </a:rPr>
              <a:t>Internet Access x Education: Digital Divide Impact on Unemployment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With Internet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No Formal</c:v>
                  </c:pt>
                  <c:pt idx="1">
                    <c:v>Primary</c:v>
                  </c:pt>
                  <c:pt idx="2">
                    <c:v>Secondary</c:v>
                  </c:pt>
                  <c:pt idx="3">
                    <c:v>Tertiary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4.03</c:v>
                </c:pt>
                <c:pt idx="1">
                  <c:v>7.56</c:v>
                </c:pt>
                <c:pt idx="2">
                  <c:v>9.65</c:v>
                </c:pt>
                <c:pt idx="3">
                  <c:v>15.32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No Internet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No Formal</c:v>
                  </c:pt>
                  <c:pt idx="1">
                    <c:v>Primary</c:v>
                  </c:pt>
                  <c:pt idx="2">
                    <c:v>Secondary</c:v>
                  </c:pt>
                  <c:pt idx="3">
                    <c:v>Tertiary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8.08</c:v>
                </c:pt>
                <c:pt idx="1">
                  <c:v>9.99</c:v>
                </c:pt>
                <c:pt idx="2">
                  <c:v>13.07</c:v>
                </c:pt>
                <c:pt idx="3">
                  <c:v>15.38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900">
              <a:solidFill>
                <a:srgbClr val="7A8099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D1B2A"/>
                </a:solidFill>
                <a:latin typeface="Arial"/>
              </a:defRPr>
            </a:pPr>
            <a:r>
              <a:rPr sz="1000" b="0" i="0" u="none" strike="noStrike">
                <a:solidFill>
                  <a:srgbClr val="0D1B2A"/>
                </a:solidFill>
                <a:latin typeface="Arial"/>
              </a:rPr>
              <a:t>Skills-Related Unemployment Reasons (Count)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Workers Affected</c:v>
                </c:pt>
              </c:strCache>
            </c:strRef>
          </c:tx>
          <c:spPr>
            <a:solidFill>
              <a:srgbClr val="6366F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6366F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6366F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6366F1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6366F1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6366F1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6366F1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Skills mismatch</c:v>
                  </c:pt>
                  <c:pt idx="1">
                    <c:v>Lack of skills</c:v>
                  </c:pt>
                  <c:pt idx="2">
                    <c:v>Lack of entrepreneur. training</c:v>
                  </c:pt>
                  <c:pt idx="3">
                    <c:v>Skill obsolescence</c:v>
                  </c:pt>
                  <c:pt idx="4">
                    <c:v>Lack of digital skills</c:v>
                  </c:pt>
                  <c:pt idx="5">
                    <c:v>Lack of vocational skills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16</c:v>
                </c:pt>
                <c:pt idx="1">
                  <c:v>12</c:v>
                </c:pt>
                <c:pt idx="2">
                  <c:v>5</c:v>
                </c:pt>
                <c:pt idx="3">
                  <c:v>6</c:v>
                </c:pt>
                <c:pt idx="4">
                  <c:v>4</c:v>
                </c:pt>
                <c:pt idx="5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D1B2A"/>
                </a:solidFill>
                <a:latin typeface="Arial"/>
              </a:defRPr>
            </a:pPr>
            <a:r>
              <a:rPr sz="1000" b="0" i="0" u="none" strike="noStrike">
                <a:solidFill>
                  <a:srgbClr val="0D1B2A"/>
                </a:solidFill>
                <a:latin typeface="Arial"/>
              </a:rPr>
              <a:t>Skills Supply vs Employer Demand Radar (Illustrative)</a:t>
            </a:r>
          </a:p>
        </c:rich>
      </c:tx>
      <c:layout/>
      <c:overlay val="0"/>
    </c:title>
    <c:autoTitleDeleted val="0"/>
    <c:plotArea>
      <c:layout/>
      <c:radarChart>
        <c:radarStyle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Workforce Supply</c:v>
                </c:pt>
              </c:strCache>
            </c:strRef>
          </c:tx>
          <c:spPr>
            <a:solidFill>
              <a:srgbClr val="6366F1"/>
            </a:solidFill>
            <a:ln w="25400" cap="flat">
              <a:solidFill>
                <a:srgbClr val="6366F1"/>
              </a:solidFill>
              <a:prstDash val="solid"/>
              <a:round/>
            </a:ln>
            <a:effectLst/>
          </c:spPr>
          <c:invertIfNegative val="0"/>
          <c:marker>
            <c:symbol val="circle"/>
            <c:size val="6"/>
            <c:spPr>
              <a:solidFill>
                <a:srgbClr val="6366F1"/>
              </a:solidFill>
              <a:ln w="9525" cap="flat">
                <a:solidFill>
                  <a:srgbClr val="6366F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Digital</c:v>
                  </c:pt>
                  <c:pt idx="1">
                    <c:v>Vocational</c:v>
                  </c:pt>
                  <c:pt idx="2">
                    <c:v>Entrepreneurship</c:v>
                  </c:pt>
                  <c:pt idx="3">
                    <c:v>Soft Skills</c:v>
                  </c:pt>
                  <c:pt idx="4">
                    <c:v>Analytical</c:v>
                  </c:pt>
                  <c:pt idx="5">
                    <c:v>Agricultural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30</c:v>
                </c:pt>
                <c:pt idx="1">
                  <c:v>35</c:v>
                </c:pt>
                <c:pt idx="2">
                  <c:v>40</c:v>
                </c:pt>
                <c:pt idx="3">
                  <c:v>55</c:v>
                </c:pt>
                <c:pt idx="4">
                  <c:v>45</c:v>
                </c:pt>
                <c:pt idx="5">
                  <c:v>65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Employer Demand</c:v>
                </c:pt>
              </c:strCache>
            </c:strRef>
          </c:tx>
          <c:spPr>
            <a:solidFill>
              <a:srgbClr val="F97316"/>
            </a:solidFill>
            <a:ln w="25400" cap="flat">
              <a:solidFill>
                <a:srgbClr val="F97316"/>
              </a:solidFill>
              <a:prstDash val="solid"/>
              <a:round/>
            </a:ln>
            <a:effectLst/>
          </c:spPr>
          <c:invertIfNegative val="0"/>
          <c:marker>
            <c:symbol val="circle"/>
            <c:size val="6"/>
            <c:spPr>
              <a:solidFill>
                <a:srgbClr val="F97316"/>
              </a:solidFill>
              <a:ln w="9525" cap="flat">
                <a:solidFill>
                  <a:srgbClr val="F9731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Digital</c:v>
                  </c:pt>
                  <c:pt idx="1">
                    <c:v>Vocational</c:v>
                  </c:pt>
                  <c:pt idx="2">
                    <c:v>Entrepreneurship</c:v>
                  </c:pt>
                  <c:pt idx="3">
                    <c:v>Soft Skills</c:v>
                  </c:pt>
                  <c:pt idx="4">
                    <c:v>Analytical</c:v>
                  </c:pt>
                  <c:pt idx="5">
                    <c:v>Agricultural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80</c:v>
                </c:pt>
                <c:pt idx="1">
                  <c:v>75</c:v>
                </c:pt>
                <c:pt idx="2">
                  <c:v>72</c:v>
                </c:pt>
                <c:pt idx="3">
                  <c:v>68</c:v>
                </c:pt>
                <c:pt idx="4">
                  <c:v>70</c:v>
                </c:pt>
                <c:pt idx="5">
                  <c:v>50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2094734554"/>
        <c:axId val="2094734552"/>
        <c:axId val="2094734556"/>
      </c:rad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900">
              <a:solidFill>
                <a:srgbClr val="7A8099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chart" Target="/ppt/charts/chart6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chart" Target="/ppt/charts/chart8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0"/>
            <a:ext cx="1097280" cy="5143500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>
                <a:alpha val="8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85800"/>
            <a:ext cx="5486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AFRICAN LABOUR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5486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spc="200" kern="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MARKET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2029968"/>
            <a:ext cx="5486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spc="200" kern="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INTELLIGENCE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283464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Unemployment Trends, Skills Gap Analysis &amp; Policy Recommendations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3657600"/>
            <a:ext cx="1143000" cy="1005840"/>
          </a:xfrm>
          <a:prstGeom prst="rect">
            <a:avLst/>
          </a:prstGeom>
          <a:solidFill>
            <a:srgbClr val="1E2A3A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70332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500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57200" y="416052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783080" y="3657600"/>
            <a:ext cx="1143000" cy="1005840"/>
          </a:xfrm>
          <a:prstGeom prst="rect">
            <a:avLst/>
          </a:prstGeom>
          <a:solidFill>
            <a:srgbClr val="1E2A3A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783080" y="370332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783080" y="416052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108960" y="3657600"/>
            <a:ext cx="1143000" cy="1005840"/>
          </a:xfrm>
          <a:prstGeom prst="rect">
            <a:avLst/>
          </a:prstGeom>
          <a:solidFill>
            <a:srgbClr val="1E2A3A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08960" y="370332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108960" y="416052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434840" y="3657600"/>
            <a:ext cx="1143000" cy="1005840"/>
          </a:xfrm>
          <a:prstGeom prst="rect">
            <a:avLst/>
          </a:prstGeom>
          <a:solidFill>
            <a:srgbClr val="1E2A3A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34840" y="370332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87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434840" y="416052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4754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· AI-Assisted Labour Market Analysis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EXECUTIVE OVERVIEW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28600" y="868680"/>
            <a:ext cx="201168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868680"/>
            <a:ext cx="2011680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0058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97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10.75%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28600" y="15087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Unemployment Rate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28600" y="176479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500 respondents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23160" y="868680"/>
            <a:ext cx="201168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23160" y="868680"/>
            <a:ext cx="2011680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23160" y="10058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20.0%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423160" y="15087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 (15-24) Rate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423160" y="176479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age group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17720" y="868680"/>
            <a:ext cx="201168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17720" y="868680"/>
            <a:ext cx="2011680" cy="6400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17720" y="10058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366F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17.9%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4617720" y="15087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Southern Africa Rate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617720" y="176479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region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812280" y="868680"/>
            <a:ext cx="201168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12280" y="868680"/>
            <a:ext cx="201168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12280" y="10058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32.8%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6812280" y="15087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Country Rate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812280" y="176479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Swaziland</a:t>
            </a:r>
            <a:endParaRPr lang="en-US" sz="900" dirty="0"/>
          </a:p>
        </p:txBody>
      </p:sp>
      <p:graphicFrame>
        <p:nvGraphicFramePr>
          <p:cNvPr id="24" name="Chart 0" descr=""/>
          <p:cNvGraphicFramePr/>
          <p:nvPr/>
        </p:nvGraphicFramePr>
        <p:xfrm>
          <a:off x="228600" y="2286000"/>
          <a:ext cx="502920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5" name="Chart 1" descr=""/>
          <p:cNvGraphicFramePr/>
          <p:nvPr/>
        </p:nvGraphicFramePr>
        <p:xfrm>
          <a:off x="5486400" y="2286000"/>
          <a:ext cx="342900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REGIONAL BREAKDOWN</a:t>
            </a:r>
            <a:endParaRPr lang="en-US" sz="1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28600" y="822960"/>
          <a:ext cx="530352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760720" y="914400"/>
            <a:ext cx="31546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760720" y="914400"/>
            <a:ext cx="54864" cy="8686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897880" y="96012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Southern Africa 17.9%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897880" y="1225296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regional rate. Swaziland, South Africa &amp; Gabon lead due to structural economic challenges.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760720" y="1920240"/>
            <a:ext cx="31546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760720" y="1920240"/>
            <a:ext cx="54864" cy="8686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897880" y="196596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Africa 16.1%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897880" y="2231136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Tunisia (21.9%) &amp; Libya (21.5%) reflect political instability and resource-dependency effects.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760720" y="2926080"/>
            <a:ext cx="31546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760720" y="2926080"/>
            <a:ext cx="54864" cy="868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897880" y="297180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Africa 12.6%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897880" y="3236976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Republic of Congo (28.3%) and Gabon (28.3%) are outliers driven by oil sector concentration.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5760720" y="3931920"/>
            <a:ext cx="31546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760720" y="3931920"/>
            <a:ext cx="54864" cy="8686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897880" y="39776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Africa 5.2%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897880" y="4242816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regional rate. Diversified informal economies provide resilience. Covers 157 respondents.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DEMOGRAPHIC PATTERNS</a:t>
            </a:r>
            <a:endParaRPr lang="en-US" sz="1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28600" y="822960"/>
          <a:ext cx="429768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4754880" y="822960"/>
          <a:ext cx="416052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Chart 2" descr=""/>
          <p:cNvGraphicFramePr/>
          <p:nvPr/>
        </p:nvGraphicFramePr>
        <p:xfrm>
          <a:off x="228600" y="3063240"/>
          <a:ext cx="868680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SKILLS GAP ANALYSIS</a:t>
            </a:r>
            <a:endParaRPr lang="en-US" sz="1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28600" y="822960"/>
          <a:ext cx="493776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349240" y="804672"/>
            <a:ext cx="3566160" cy="2670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394960" y="841248"/>
            <a:ext cx="347472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Demand vs Supply Gap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94960" y="1170432"/>
          <a:ext cx="3474720" cy="2194560"/>
        </p:xfrm>
        <a:graphic>
          <a:graphicData uri="http://schemas.openxmlformats.org/drawingml/2006/table">
            <a:tbl>
              <a:tblPr/>
              <a:tblGrid>
                <a:gridCol w="1554480"/>
                <a:gridCol w="1188720"/>
                <a:gridCol w="7315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Skill Type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 Level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Rate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Digital/Tech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Vocational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Entrepreneurship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Soft Skills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Tertiary Edu.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Chart 1" descr=""/>
          <p:cNvGraphicFramePr/>
          <p:nvPr/>
        </p:nvGraphicFramePr>
        <p:xfrm>
          <a:off x="228600" y="3611880"/>
          <a:ext cx="8686800" cy="1371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AI-ASSISTED INSIGHTS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28600" y="804672"/>
            <a:ext cx="2834640" cy="1828800"/>
          </a:xfrm>
          <a:prstGeom prst="rect">
            <a:avLst/>
          </a:prstGeom>
          <a:solidFill>
            <a:srgbClr val="1E2A3A"/>
          </a:solidFill>
          <a:ln w="9525">
            <a:solidFill>
              <a:srgbClr val="F9731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804672"/>
            <a:ext cx="2834640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4183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YOUTH CRISIS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261872"/>
            <a:ext cx="2560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 aged 15-24 face 20% unemployment - 2.5x higher than the 45-54 cohort (6.04%). First-time job seekers face structural entry barriers across all regions.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0" y="804672"/>
            <a:ext cx="2834640" cy="1828800"/>
          </a:xfrm>
          <a:prstGeom prst="rect">
            <a:avLst/>
          </a:prstGeom>
          <a:solidFill>
            <a:srgbClr val="1E2A3A"/>
          </a:solidFill>
          <a:ln w="9525">
            <a:solidFill>
              <a:srgbClr val="6366F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804672"/>
            <a:ext cx="2834640" cy="6400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94183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EDUCATION PARADOX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37560" y="1261872"/>
            <a:ext cx="2560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Tertiary graduates show the HIGHEST rate (15.3%) vs. no-education workers (6.9%). Curriculum misalignment between universities and labour market demand is critical.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72200" y="804672"/>
            <a:ext cx="2834640" cy="1828800"/>
          </a:xfrm>
          <a:prstGeom prst="rect">
            <a:avLst/>
          </a:prstGeom>
          <a:solidFill>
            <a:srgbClr val="1E2A3A"/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72200" y="804672"/>
            <a:ext cx="283464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94183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DIGITAL DIVIDE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309360" y="1261872"/>
            <a:ext cx="2560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internet access: 11.1% vs 10.4% rate. At lower education levels, the gap widens to 4pp - digital connectivity is an economic multiplier.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" y="2862072"/>
            <a:ext cx="2834640" cy="1828800"/>
          </a:xfrm>
          <a:prstGeom prst="rect">
            <a:avLst/>
          </a:prstGeom>
          <a:solidFill>
            <a:srgbClr val="1E2A3A"/>
          </a:solidFill>
          <a:ln w="9525">
            <a:solidFill>
              <a:srgbClr val="EF444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8600" y="2862072"/>
            <a:ext cx="2834640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99923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VOCATIONAL DEFICIT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" y="3319272"/>
            <a:ext cx="2560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vocational skills drives 24.9% unemployment - the highest skills-related rate identified. Trade and technical skills are acutely undersupplied in the labour market.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0" y="2862072"/>
            <a:ext cx="2834640" cy="1828800"/>
          </a:xfrm>
          <a:prstGeom prst="rect">
            <a:avLst/>
          </a:prstGeom>
          <a:solidFill>
            <a:srgbClr val="1E2A3A"/>
          </a:solidFill>
          <a:ln w="9525">
            <a:solidFill>
              <a:srgbClr val="0D948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0" y="2862072"/>
            <a:ext cx="283464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37560" y="299923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SOUTHERN EXPOSURE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337560" y="3319272"/>
            <a:ext cx="2560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Southern Africa (17.9%) is 3x West Africa (5.2%). Swaziland (32.8%), Djibouti (30.7%), South Africa (30.7%) reflect structural economic inequality.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72200" y="2862072"/>
            <a:ext cx="2834640" cy="1828800"/>
          </a:xfrm>
          <a:prstGeom prst="rect">
            <a:avLst/>
          </a:prstGeom>
          <a:solidFill>
            <a:srgbClr val="1E2A3A"/>
          </a:solidFill>
          <a:ln w="9525">
            <a:solidFill>
              <a:srgbClr val="EC489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72200" y="2862072"/>
            <a:ext cx="2834640" cy="6400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09360" y="299923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C489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GENDER GAP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309360" y="3319272"/>
            <a:ext cx="2560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 face 11.5% vs men's 9.9% - a 1.6pp gap. Family responsibilities were directly cited as barriers, pointing to social infrastructure needs.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POLICY RECOMMENDATIONS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28600" y="804672"/>
            <a:ext cx="4251960" cy="12618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804672"/>
            <a:ext cx="54864" cy="1261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38328" y="87782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7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95528" y="87782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 Employment Fast-Track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95528" y="1188720"/>
            <a:ext cx="3566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apprenticeships, subsidised first-employment schemes &amp; mentorship. Focus North &amp; Southern Africa. Target: 3-5pp reduction in 3 years.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09160" y="804672"/>
            <a:ext cx="4251960" cy="12618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804672"/>
            <a:ext cx="54864" cy="126187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18888" y="87782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366F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276088" y="87782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Vocational &amp; Digital Skills Centres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276088" y="1188720"/>
            <a:ext cx="3566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TVET centres with digital literacy integration. Internet access cuts unemployment by ~7%. Prioritise Central and Southern Africa.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28600" y="2221992"/>
            <a:ext cx="4251960" cy="12618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28600" y="2221992"/>
            <a:ext cx="54864" cy="12618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8328" y="229514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795528" y="229514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Curriculum-Market Alignment Reform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95528" y="2606040"/>
            <a:ext cx="3566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 advisory boards for universities. Industry-linked degrees. Post-graduate bridging courses in tech, entrepreneurship and market-relevant fields.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09160" y="2221992"/>
            <a:ext cx="4251960" cy="12618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2221992"/>
            <a:ext cx="54864" cy="12618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18888" y="229514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276088" y="229514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 Connectivity Infrastructure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276088" y="2606040"/>
            <a:ext cx="3566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Accelerate broadband rollout. Subsidised device access. Digital economy hubs enabling remote work for workers who cannot relocate to urban areas.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28600" y="3639312"/>
            <a:ext cx="4251960" cy="12618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28600" y="3639312"/>
            <a:ext cx="54864" cy="1261872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8328" y="371246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C489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795528" y="371246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Gender-Inclusive Employment Policy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95528" y="4023360"/>
            <a:ext cx="3566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Mandate affordable childcare near industrial zones. Flexible work regulations. Support women-led SMEs. Target East and Southern Africa specifically.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09160" y="3639312"/>
            <a:ext cx="4251960" cy="12618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09160" y="3639312"/>
            <a:ext cx="54864" cy="12618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18888" y="371246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5276088" y="371246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Industrial Diversification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276088" y="4023360"/>
            <a:ext cx="3566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Resource-dependent nations invest in manufacturing and agri-processing. Cross-border labour mobility frameworks to reduce unemployment concentration.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METHODOLOGY &amp; DATA NOTES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28600" y="804672"/>
            <a:ext cx="86868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804672"/>
            <a:ext cx="54864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86868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783080" y="868680"/>
            <a:ext cx="6995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respondents across 50 African countries (10 per country). Variables: country, region, age group, sex, education level, area, marital status, years of experience (0-40), internet access, unemployment reason, unemployment rate.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28600" y="1810512"/>
            <a:ext cx="86868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8600" y="1810512"/>
            <a:ext cx="54864" cy="86868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18745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Approach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783080" y="1874520"/>
            <a:ext cx="6995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statistics using pandas. Group comparisons by mean aggregation. Skills gap analysis via thematic categorisation of 87 unique unemployment reasons. Cross-tabulations for interaction effects.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8600" y="2816352"/>
            <a:ext cx="86868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" y="2816352"/>
            <a:ext cx="54864" cy="868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288036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783080" y="2880360"/>
            <a:ext cx="6995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critical patterns: Youth unemployment 2.5x average, Education paradox (tertiary = highest rate), Regional concentration in Southern/North Africa, 11.4% skills-related unemployment, Digital access has protective effect.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" y="3822192"/>
            <a:ext cx="86868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8600" y="3822192"/>
            <a:ext cx="54864" cy="8686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388620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783080" y="3886200"/>
            <a:ext cx="6995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sample (10/country) does not reflect population proportions. Unemployment rate definition varies by individual/local context. 87 reasons show encoding inconsistencies. Results are directional indicators only.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0"/>
            <a:ext cx="3657600" cy="514350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0"/>
            <a:ext cx="457200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4846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Bridging the Gap,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Building the Future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Africa's labour market challenges are addressable.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policy, skills investment, and digital inclusion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reshape employment outcomes across the continent.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39776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11.4%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65760" y="448056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Skills-related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A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unemployment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011680" y="39776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2.5x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011680" y="448056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 vs. overall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A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multiple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0" y="39776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3x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448056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vs West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A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 gap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4C610CA20A3894B867C07CD2D69FCD3" ma:contentTypeVersion="3" ma:contentTypeDescription="Create a new document." ma:contentTypeScope="" ma:versionID="ae520e29d60f61d58924b76958a210b5">
  <xsd:schema xmlns:xsd="http://www.w3.org/2001/XMLSchema" xmlns:xs="http://www.w3.org/2001/XMLSchema" xmlns:p="http://schemas.microsoft.com/office/2006/metadata/properties" xmlns:ns2="db64a1e0-2cb7-45e6-951c-d2d4cc8a6037" targetNamespace="http://schemas.microsoft.com/office/2006/metadata/properties" ma:root="true" ma:fieldsID="0beeabc14e5d9d6eddaa0337754a3173" ns2:_="">
    <xsd:import namespace="db64a1e0-2cb7-45e6-951c-d2d4cc8a603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b64a1e0-2cb7-45e6-951c-d2d4cc8a603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1F4C985-3CEA-4E51-96AF-CA2A34709CDE}"/>
</file>

<file path=customXml/itemProps2.xml><?xml version="1.0" encoding="utf-8"?>
<ds:datastoreItem xmlns:ds="http://schemas.openxmlformats.org/officeDocument/2006/customXml" ds:itemID="{915FD69E-BA36-421D-B5CE-82EE67CEBFC1}"/>
</file>

<file path=customXml/itemProps3.xml><?xml version="1.0" encoding="utf-8"?>
<ds:datastoreItem xmlns:ds="http://schemas.openxmlformats.org/officeDocument/2006/customXml" ds:itemID="{75FC61B9-299D-4C32-AB91-6FE80D8A1D64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African Labour Market Intelligence</dc:title>
  <dc:subject>PptxGenJS Presentation</dc:subject>
  <dc:creator>PptxGenJS</dc:creator>
  <cp:lastModifiedBy>PptxGenJS</cp:lastModifiedBy>
  <cp:revision>1</cp:revision>
  <dcterms:created xsi:type="dcterms:W3CDTF">2026-03-21T13:31:04Z</dcterms:created>
  <dcterms:modified xsi:type="dcterms:W3CDTF">2026-03-21T13:31:04Z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0x010100D4C610CA20A3894B867C07CD2D69FCD3</vt:lpwstr>
  </property>
</Properties>
</file>